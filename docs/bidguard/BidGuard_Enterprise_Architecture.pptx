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cab7c15f12487f" /><Relationship Type="http://schemas.openxmlformats.org/officeDocument/2006/relationships/extended-properties" Target="/docProps/app.xml" Id="R1f6ae58a54cb4ec1" /><Relationship Type="http://schemas.openxmlformats.org/officeDocument/2006/relationships/officeDocument" Target="/ppt/presentation.xml" Id="R2cd361fccca947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0cd1b313d845ac"/>
  </p:sldMasterIdLst>
  <p:notesMasterIdLst>
    <p:notesMasterId xmlns:r="http://schemas.openxmlformats.org/officeDocument/2006/relationships" r:id="R9fde25bbce024c0f"/>
  </p:notesMasterIdLst>
  <p:sldIdLst>
    <p:sldId xmlns:r="http://schemas.openxmlformats.org/officeDocument/2006/relationships" id="256" r:id="R8c42133c5e4a4564"/>
    <p:sldId xmlns:r="http://schemas.openxmlformats.org/officeDocument/2006/relationships" id="257" r:id="R6c5eba5b56fb42c7"/>
    <p:sldId xmlns:r="http://schemas.openxmlformats.org/officeDocument/2006/relationships" id="258" r:id="R36278492b4c3463b"/>
    <p:sldId xmlns:r="http://schemas.openxmlformats.org/officeDocument/2006/relationships" id="259" r:id="R8dcaefe363fb44db"/>
    <p:sldId xmlns:r="http://schemas.openxmlformats.org/officeDocument/2006/relationships" id="260" r:id="R5d35d582916443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d849c819dc4a6c" /><Relationship Type="http://schemas.openxmlformats.org/officeDocument/2006/relationships/slideMaster" Target="/ppt/slideMasters/slideMaster1.xml" Id="R360cd1b313d845ac" /><Relationship Type="http://schemas.openxmlformats.org/officeDocument/2006/relationships/notesMaster" Target="/ppt/notesMasters/notesMaster1.xml" Id="R9fde25bbce024c0f" /><Relationship Type="http://schemas.openxmlformats.org/officeDocument/2006/relationships/presProps" Target="/ppt/presProps.xml" Id="Rc0e72f62133b4dfe" /><Relationship Type="http://schemas.openxmlformats.org/officeDocument/2006/relationships/tableStyles" Target="/ppt/tableStyles.xml" Id="R679376a551a14bc9" /><Relationship Type="http://schemas.openxmlformats.org/officeDocument/2006/relationships/slide" Target="/ppt/slides/slide1.xml" Id="R8c42133c5e4a4564" /><Relationship Type="http://schemas.openxmlformats.org/officeDocument/2006/relationships/slide" Target="/ppt/slides/slide2.xml" Id="R6c5eba5b56fb42c7" /><Relationship Type="http://schemas.openxmlformats.org/officeDocument/2006/relationships/slide" Target="/ppt/slides/slide3.xml" Id="R36278492b4c3463b" /><Relationship Type="http://schemas.openxmlformats.org/officeDocument/2006/relationships/slide" Target="/ppt/slides/slide4.xml" Id="R8dcaefe363fb44db" /><Relationship Type="http://schemas.openxmlformats.org/officeDocument/2006/relationships/slide" Target="/ppt/slides/slide5.xml" Id="R5d35d582916443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3d9b9bb34845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083ded19a44764" /><Relationship Type="http://schemas.openxmlformats.org/officeDocument/2006/relationships/notesMaster" Target="/ppt/notesMasters/notesMaster1.xml" Id="R0ada5c04f5cc4a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b7353d1f444329" /><Relationship Type="http://schemas.openxmlformats.org/officeDocument/2006/relationships/notesMaster" Target="/ppt/notesMasters/notesMaster1.xml" Id="R62a71eda52ff49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15b7eb07784265" /><Relationship Type="http://schemas.openxmlformats.org/officeDocument/2006/relationships/notesMaster" Target="/ppt/notesMasters/notesMaster1.xml" Id="R97915feff5ed4b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7576ae4af645d2" /><Relationship Type="http://schemas.openxmlformats.org/officeDocument/2006/relationships/notesMaster" Target="/ppt/notesMasters/notesMaster1.xml" Id="Rd6a6b0eb35ef4f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4cdc2b81af42a3" /><Relationship Type="http://schemas.openxmlformats.org/officeDocument/2006/relationships/notesMaster" Target="/ppt/notesMasters/notesMaster1.xml" Id="Re6e055f1132f4e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afa6598bb41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c5d13498154230" /><Relationship Type="http://schemas.openxmlformats.org/officeDocument/2006/relationships/slideLayout" Target="/ppt/slideLayouts/slideLayout1.xml" Id="Re12599a9ab6341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2599a9ab6341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02e4c90a646ba" /><Relationship Type="http://schemas.openxmlformats.org/officeDocument/2006/relationships/notesSlide" Target="/ppt/notesSlides/notesSlide1.xml" Id="R31de853ed5f248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b3dbb39ef44fe" /><Relationship Type="http://schemas.openxmlformats.org/officeDocument/2006/relationships/notesSlide" Target="/ppt/notesSlides/notesSlide2.xml" Id="R1828824bdd4c4f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f4bfd3ab946ed" /><Relationship Type="http://schemas.openxmlformats.org/officeDocument/2006/relationships/notesSlide" Target="/ppt/notesSlides/notesSlide3.xml" Id="R6b38d305db104a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e1f8f8eaf4536" /><Relationship Type="http://schemas.openxmlformats.org/officeDocument/2006/relationships/notesSlide" Target="/ppt/notesSlides/notesSlide4.xml" Id="Rb4c2fd708ff54c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b845704b34b78" /><Relationship Type="http://schemas.openxmlformats.org/officeDocument/2006/relationships/notesSlide" Target="/ppt/notesSlides/notesSlide5.xml" Id="R76a5894b6bc849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39E33D-EAA3-4DEC-B14F-321061F6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BIDGUARD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C1A56-B412-4E04-A7EE-B1AA7A1F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1950"/>
            <a:ext cx="3457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368"/>
                </a:solidFill>
              </a:defRPr>
            </a:pPr>
            <a:r>
              <a:rPr sz="1125" b="1">
                <a:solidFill>
                  <a:srgbClr val="5F6368"/>
                </a:solidFill>
              </a:rPr>
              <a:t>ENTERPRISE ARCHITECTURE · V1.0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0DBEC-0059-42D0-BE47-56AC9C0C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98107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RAGFlow × LangGraph</a:t>
            </a:r>
          </a:p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招投标智能审查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6AE51-C8E9-48A1-B56C-5793BB44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833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</a:defRPr>
            </a:pPr>
            <a:r>
              <a:rPr sz="1800" b="0">
                <a:solidFill>
                  <a:srgbClr val="5F6368"/>
                </a:solidFill>
              </a:rPr>
              <a:t>RAGFlow 负责文档理解与证据检索；LangGraph 负责业务决策、状态流转与人审闭环。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4FB62-3001-4022-A1AA-4EBB6945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0"/>
            <a:ext cx="1257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F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招标要求拆解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6E980-33EE-4AC5-8376-243385A8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19750"/>
            <a:ext cx="1009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CE"/>
                </a:solidFill>
              </a:defRPr>
            </a:pPr>
            <a:r>
              <a:rPr sz="975" b="1">
                <a:solidFill>
                  <a:srgbClr val="246BCE"/>
                </a:solidFill>
              </a:rPr>
              <a:t>响应矩阵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87A07-1BAD-4CD9-8292-F9788076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19750"/>
            <a:ext cx="1009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9525">
            <a:solidFill>
              <a:srgbClr val="FDEC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3E46"/>
                </a:solidFill>
              </a:defRPr>
            </a:pPr>
            <a:r>
              <a:rPr sz="975" b="1">
                <a:solidFill>
                  <a:srgbClr val="C73E46"/>
                </a:solidFill>
              </a:rPr>
              <a:t>风险审查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ED82E-7A8A-4B38-BB0D-C7F48CA8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19750"/>
            <a:ext cx="1485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E7F6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8A63"/>
                </a:solidFill>
              </a:defRPr>
            </a:pPr>
            <a:r>
              <a:rPr sz="975" b="1">
                <a:solidFill>
                  <a:srgbClr val="1D8A63"/>
                </a:solidFill>
              </a:rPr>
              <a:t>更正公告影响分析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FABC1-A52C-40AE-A151-6386DCE8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2026.07</a:t>
            </a:r>
          </a:p>
        </p:txBody>
      </p:sp>
    </p:spTree>
    <p:extLst>
      <p:ext uri="{BB962C8B-B14F-4D97-AF65-F5344CB8AC3E}">
        <p14:creationId xmlns:p14="http://schemas.microsoft.com/office/powerpoint/2010/main" val="15727807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1EF2DD-1027-4FEF-90F8-A1216F91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01 / SYSTEM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6ECE6-4722-4D54-8821-8C8FB03B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系统全景：三核一体，而不是“调一个 API”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CFCAF-F046-4950-9D62-7F901EFB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4326D-AC21-452D-9F23-A1EFD8AF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B16A4-2882-48E8-AF50-B45780CE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809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8AD3C-2B4E-408A-9248-AE5E12AE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业务用户与入口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AC787-03A0-4175-850B-2B9836D1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43075"/>
            <a:ext cx="1543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投标经理 / 方案工程师 / 商务复核</a:t>
            </a:r>
          </a:p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Web 工作台 · REST API · 批量任务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44E85-06E7-42E3-9F0A-7A2B0D8F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809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92EC6-89FC-49F0-BB33-331DD11B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2897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项目文档集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77EFF-CE77-443B-B0B7-DB0AB76F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4725"/>
            <a:ext cx="1543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招标文件 · 技术附件 · 更正公告</a:t>
            </a:r>
          </a:p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投标响应 · 报价表 · 证明材料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CB6B3-0DA1-4627-86B0-B0ABB6B3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955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22E3D-05AC-4BF2-BEA1-6DEA6224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8122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可交付结果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76612-34AF-4B25-A0EB-1500D6B5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66975"/>
            <a:ext cx="15430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要求清单 · 响应矩阵 · 风险清单</a:t>
            </a:r>
          </a:p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差异报告 · 审计记录 · 可追溯引用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E0D7A-77E4-4F7C-98C4-B9921C5D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276350"/>
            <a:ext cx="7124700" cy="4038600"/>
          </a:xfrm>
          <a:prstGeom xmlns:a="http://schemas.openxmlformats.org/drawingml/2006/main" prst="roundRect">
            <a:avLst>
              <a:gd name="adj" fmla="val 42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0EE69-93D8-4625-9DAE-CFFCC68A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28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BidGuard 应用平台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45AEA-1083-4328-8C69-CE560570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38275"/>
            <a:ext cx="2800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领域数据、规则与业务闭环由项目自身掌控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25326-2A0F-4F6F-A6A9-B8AC43C5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76425"/>
            <a:ext cx="19812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428982-5A6A-4ACB-B659-873D1588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62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接入与应用层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CAFB9-3E6A-4BFE-9D89-EC2EA11C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47900"/>
            <a:ext cx="1714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Next.js 工作台 · FastAPI/BFF</a:t>
            </a:r>
          </a:p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鉴权 · 项目空间 · 任务 API · 导出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8F614-BA7A-401A-B88D-D2B35B76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76425"/>
            <a:ext cx="2133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58355-EEB0-445D-9761-AC5B06AA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621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BidGuard 领域核心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9A83A-FD67-44E0-A4A2-37FB646B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47900"/>
            <a:ext cx="1866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项目/标包/文档版本 · 条款模型</a:t>
            </a:r>
          </a:p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响应矩阵 · 规则库 · 风险与复核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938A7-97CA-463E-A261-407BA748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76425"/>
            <a:ext cx="2057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7656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481C3F-86AC-4CFF-99F6-654365C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621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LangGraph Agent 核心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1C762E-27B6-4839-A197-DD04B602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47900"/>
            <a:ext cx="1790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StateGraph · 条件路由 · Checkpoint</a:t>
            </a:r>
          </a:p>
          <a:p xmlns:a="http://schemas.openxmlformats.org/drawingml/2006/main">
            <a:pPr algn="l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重试/改写 · HITL · 运行追踪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A341C-0A56-4D48-BE01-6296650F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71850"/>
            <a:ext cx="4343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D6F1F9-C7CC-4C18-91A5-968F7859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57575"/>
            <a:ext cx="407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RAGFlow 知识与检索核心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4522ED-9723-402F-ADE1-75E9E226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43325"/>
            <a:ext cx="4076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OCR/版面/表格解析 · Chunking · Dataset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向量 + BM25 混合召回 · Rerank · 引用定位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295230-B2FA-4FFE-AA22-1F357CBD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57750"/>
            <a:ext cx="1524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27CDE9-C76F-45AF-83AD-F90F312D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434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PostgreSQL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A7FC0D-6EE7-4D1C-A6DB-3B484F9C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7207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权威业务状态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版本与审计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FFA01B-692C-4D53-9EFB-8BB762D1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1524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DA8982-ACF1-451C-8406-D3B63360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434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MinIO / S3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474EF1-5490-42E0-B024-B691FF6E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17207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原始文档与报告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586AEA-71C1-40DD-B93E-33481D08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1524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B0D27F-A833-4008-BDE3-B1FFC936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434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Redis / Queue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055F0E-C599-46EE-9D4B-E20D93AD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7207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任务、缓存、锁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52EF42-BF6A-4D5D-AB35-86D4B551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1524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7C9643-4BF3-46E0-AAFC-D80AE485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434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LLM Gateway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036638-1D7A-4ADF-B282-36862243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7207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模型路由与限流</a:t>
            </a:r>
          </a:p>
        </p:txBody>
      </p:sp>
      <p:cxnSp>
        <p:nvCxnSpPr>
          <p:cNvPr id="95" name=""/>
          <p:cNvCxnSpPr>
            <a:stCxn xmlns:a="http://schemas.openxmlformats.org/drawingml/2006/main" id="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209800" y="2057400"/>
            <a:ext cx="552450" cy="381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11111"/>
            </a:solidFill>
            <a:prstDash val="solid"/>
            <a:tailEnd type="arrow" w="sm" len="sm"/>
          </a:ln>
        </p:spPr>
      </p:cxnSp>
      <p:cxnSp>
        <p:nvCxnSpPr>
          <p:cNvPr id="96" name=""/>
          <p:cNvCxnSpPr>
            <a:stCxn xmlns:a="http://schemas.openxmlformats.org/drawingml/2006/main" id="8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209800" y="3819525"/>
            <a:ext cx="1676400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6BCE"/>
            </a:solidFill>
            <a:prstDash val="solid"/>
            <a:tailEnd type="arrow" w="sm" len="sm"/>
          </a:ln>
        </p:spPr>
      </p:cxnSp>
      <p:cxnSp>
        <p:nvCxnSpPr>
          <p:cNvPr id="97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743450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35"/>
            </a:solidFill>
            <a:prstDash val="solid"/>
            <a:tailEnd type="arrow" w="sm" len="sm"/>
          </a:ln>
        </p:spPr>
      </p:cxnSp>
      <p:cxnSp>
        <p:nvCxnSpPr>
          <p:cNvPr id="98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124700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56C7"/>
            </a:solidFill>
            <a:prstDash val="solid"/>
            <a:tailEnd type="arrow" w="sm" len="sm"/>
          </a:ln>
        </p:spPr>
      </p:cxnSp>
      <p:cxnSp>
        <p:nvCxnSpPr>
          <p:cNvPr id="99" name=""/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6057900" y="3000375"/>
            <a:ext cx="2343150" cy="371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6BCE"/>
            </a:solidFill>
            <a:prstDash val="solid"/>
            <a:tailEnd type="arrow" w="sm" len="sm"/>
          </a:ln>
        </p:spPr>
      </p:cxnSp>
      <p:cxnSp>
        <p:nvCxnSpPr>
          <p:cNvPr id="100" name=""/>
          <p:cNvCxnSpPr>
            <a:stCxn xmlns:a="http://schemas.openxmlformats.org/drawingml/2006/main" id="26" idx="0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6057900" y="300037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35"/>
            </a:solidFill>
            <a:prstDash val="dash"/>
            <a:tailEnd type="arrow" w="sm" len="sm"/>
          </a:ln>
        </p:spPr>
      </p:cxnSp>
      <p:cxnSp>
        <p:nvCxnSpPr>
          <p:cNvPr id="101" name=""/>
          <p:cNvCxnSpPr>
            <a:stCxn xmlns:a="http://schemas.openxmlformats.org/drawingml/2006/main" id="23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29750" y="2438400"/>
            <a:ext cx="552450" cy="514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11111"/>
            </a:solidFill>
            <a:prstDash val="solid"/>
            <a:tailEnd type="arrow" w="sm" len="sm"/>
          </a:ln>
        </p:spPr>
      </p:cxnSp>
      <p:cxnSp>
        <p:nvCxnSpPr>
          <p:cNvPr id="102" name=""/>
          <p:cNvCxnSpPr>
            <a:stCxn xmlns:a="http://schemas.openxmlformats.org/drawingml/2006/main" id="29" idx="0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3524250" y="3000375"/>
            <a:ext cx="2533650" cy="1857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F6368"/>
            </a:solidFill>
            <a:prstDash val="dash"/>
            <a:tailEnd type="arrow" w="sm" len="sm"/>
          </a:ln>
        </p:spPr>
      </p:cxnSp>
      <p:cxnSp>
        <p:nvCxnSpPr>
          <p:cNvPr id="103" name=""/>
          <p:cNvCxnSpPr>
            <a:stCxn xmlns:a="http://schemas.openxmlformats.org/drawingml/2006/main" id="32" idx="0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V="1">
            <a:off x="5238750" y="4629150"/>
            <a:ext cx="819150" cy="228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F6368"/>
            </a:solidFill>
            <a:prstDash val="dash"/>
            <a:tailEnd type="arrow" w="sm" len="sm"/>
          </a:ln>
        </p:spPr>
      </p:cxnSp>
      <p:cxnSp>
        <p:nvCxnSpPr>
          <p:cNvPr id="104" name=""/>
          <p:cNvCxnSpPr>
            <a:stCxn xmlns:a="http://schemas.openxmlformats.org/drawingml/2006/main" id="35" idx="0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6953250" y="3000375"/>
            <a:ext cx="1447800" cy="1857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F6368"/>
            </a:solidFill>
            <a:prstDash val="dash"/>
            <a:tailEnd type="arrow" w="sm" len="sm"/>
          </a:ln>
        </p:spPr>
      </p:cxnSp>
      <p:cxnSp>
        <p:nvCxnSpPr>
          <p:cNvPr id="105" name=""/>
          <p:cNvCxnSpPr>
            <a:stCxn xmlns:a="http://schemas.openxmlformats.org/drawingml/2006/main" id="38" idx="0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H="1" flipV="1">
            <a:off x="8401050" y="3000375"/>
            <a:ext cx="266700" cy="1857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F6368"/>
            </a:solidFill>
            <a:prstDash val="dash"/>
            <a:tailEnd type="arrow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D6F77A-0D58-4E41-9B20-51A17EB8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关键边界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B7C8D0-6CD9-49FA-8D28-05ED3822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19750"/>
            <a:ext cx="1002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RAGFlow 不负责投标业务状态；LangGraph 不重复造解析器和向量库；BidGuard 保留领域模型、规则、权限和审计。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CC0063-CCE2-4053-B846-352E50B1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BidGuard · RAGFlow × LangGraph</a:t>
            </a:r>
          </a:p>
        </p:txBody>
      </p:sp>
    </p:spTree>
    <p:extLst>
      <p:ext uri="{BB962C8B-B14F-4D97-AF65-F5344CB8AC3E}">
        <p14:creationId xmlns:p14="http://schemas.microsoft.com/office/powerpoint/2010/main" val="330058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D49D13-10D2-45D9-A322-C29D4292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02 / AGENT STATEGRAPH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5276B-E6CE-4766-9004-A6486464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LangGraph：招投标 Agent 的可恢复业务状态机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96080-8C5C-4769-A9E4-32D26814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870B2-FAF0-4A6F-83FF-D38512D7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FC015-3A1B-47F3-A788-2FD3D245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4F26F-216B-4018-A614-8DC66EC9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581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1A2CB-41AE-497A-8CA5-7A4E6894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创建审查任务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BDABF-6875-40C4-A006-F8175399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131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project_id · document_set</a:t>
            </a:r>
          </a:p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review_policy · user_context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B9E20-AD54-4D52-B883-BC7A934D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676400"/>
            <a:ext cx="1619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61336-A678-4462-ACF0-B6E169C7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621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装载项目上下文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D8E82-5B34-413B-B706-7060E406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478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版本链 / 标包 / 权限</a:t>
            </a:r>
          </a:p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规则集 / 已确认条款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D9B72-B120-4D1B-B201-A8249AE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76400"/>
            <a:ext cx="17526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0F999-F3CE-4C36-8983-7605DBAF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62125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要求抽取与规范化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5608C-7997-409E-A574-069D1EA7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1485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资格 / 实质性 / 技术 / 商务</a:t>
            </a:r>
          </a:p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评分项 / 日期 / 数值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5FEE4-8B5C-4F04-B9E0-C3322BF3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76400"/>
            <a:ext cx="16573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C3651-2563-4CBA-AE0F-FF5C28F7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62125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构建响应矩阵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19735-CFCB-4AB0-8CD1-1832D2D1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47875"/>
            <a:ext cx="139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requirement ↔ response</a:t>
            </a:r>
          </a:p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owner · status ·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C78379-753E-4F89-B642-EB3E0E13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1790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7E2C2-54DE-4FCD-BEA8-9735DF87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62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RAGFlow 证据检索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7CE766-7D91-4FA4-9F39-D9A98E2B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4787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query rewrite → hybrid retrieve</a:t>
            </a:r>
          </a:p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metadata filter → rerank → cite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C448F4-BBFB-4A19-B44D-85D562AB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676400"/>
            <a:ext cx="18478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9525">
            <a:solidFill>
              <a:srgbClr val="C73E4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74256F-5F6A-4B95-B6A2-2D9EF3C7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762125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双通道审查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1202D-DFCB-4720-81ED-ABC56B07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47875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确定性规则：日期/金额/缺件/冲突</a:t>
            </a:r>
          </a:p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语义判断：完整性/一致性/无证据承诺</a:t>
            </a:r>
          </a:p>
        </p:txBody>
      </p:sp>
      <p:cxnSp>
        <p:nvCxnSpPr>
          <p:cNvPr id="8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981200" y="21240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829050" y="21240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arrow" w="sm" len="sm"/>
          </a:ln>
        </p:spPr>
      </p:cxnSp>
      <p:cxnSp>
        <p:nvCxnSpPr>
          <p:cNvPr id="84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10250" y="21240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35"/>
            </a:solidFill>
            <a:prstDash val="solid"/>
            <a:tailEnd type="arrow" w="sm" len="sm"/>
          </a:ln>
        </p:spPr>
      </p:cxnSp>
      <p:cxnSp>
        <p:nvCxnSpPr>
          <p:cNvPr id="85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696200" y="21240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CE"/>
            </a:solidFill>
            <a:prstDash val="solid"/>
            <a:tailEnd type="arrow" w="sm" len="sm"/>
          </a:ln>
        </p:spPr>
      </p:cxnSp>
      <p:cxnSp>
        <p:nvCxnSpPr>
          <p:cNvPr id="86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715500" y="21240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3E46"/>
            </a:solidFill>
            <a:prstDash val="solid"/>
            <a:tailEnd type="arrow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CD5C52-51C9-4168-9A79-999D27B0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37909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470E03-1D2E-42F0-A438-18E0C485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28975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证据与引用验证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571F9E-4F9B-4122-B982-237FE1AA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14725"/>
            <a:ext cx="352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每条结论必须绑定：document_id / page / section / chunk_id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检查引用是否支持结论，避免“有引用但不相关”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2BEFA0-6DE9-40A3-9427-4722A89F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43250"/>
            <a:ext cx="18478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9525">
            <a:solidFill>
              <a:srgbClr val="9A6B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219F27-095E-4C6B-9570-E1F444F4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28975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置信度与风险门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4214EB-308E-49AA-86CE-A6AD2332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14725"/>
            <a:ext cx="1581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低证据覆盖 / 高风险 / 规则冲突？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762BF8-B458-4E1B-8916-3A140F2F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43250"/>
            <a:ext cx="1943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7656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971E46-2263-4514-8628-EABF70D1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2897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改写检索并重试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E6B591-AC29-413A-ABD1-BB4B4285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14725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扩展同义词 · 定向章节/表格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调整过滤条件 · 最大次数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43DD91-A80A-4940-B583-AF4E59BF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43250"/>
            <a:ext cx="1943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1D8A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773E2E-6D3B-4214-8D2D-444D23CA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2897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人工复核（HITL）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B0047D-D25F-4128-B614-1BCDF632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14725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确认 / 驳回 / 修改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保留修改前后值与理由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FA4940-A15A-4DC7-9C2A-7AB15E13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8669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4413FA-C49B-4011-AD8F-510DF658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05375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固化结果与导出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1279C6-A0A6-4159-82FE-61CDCDDA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160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6E6E6"/>
                </a:solidFill>
              </a:defRPr>
            </a:pPr>
            <a:r>
              <a:rPr sz="900" b="0">
                <a:solidFill>
                  <a:srgbClr val="E6E6E6"/>
                </a:solidFill>
              </a:rPr>
              <a:t>响应矩阵 · 风险报告</a:t>
            </a:r>
          </a:p>
          <a:p xmlns:a="http://schemas.openxmlformats.org/drawingml/2006/main">
            <a:pPr algn="l">
              <a:defRPr sz="900" b="0">
                <a:solidFill>
                  <a:srgbClr val="E6E6E6"/>
                </a:solidFill>
              </a:defRPr>
            </a:pPr>
            <a:r>
              <a:rPr sz="900" b="0">
                <a:solidFill>
                  <a:srgbClr val="E6E6E6"/>
                </a:solidFill>
              </a:rPr>
              <a:t>更正公告差异 · 审计轨迹</a:t>
            </a:r>
          </a:p>
        </p:txBody>
      </p:sp>
      <p:cxnSp>
        <p:nvCxnSpPr>
          <p:cNvPr id="102" name=""/>
          <p:cNvCxnSpPr>
            <a:stCxn xmlns:a="http://schemas.openxmlformats.org/drawingml/2006/main" id="21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9896475" y="2571750"/>
            <a:ext cx="971550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73E46"/>
            </a:solidFill>
            <a:prstDash val="solid"/>
            <a:tailEnd type="arrow" w="sm" len="sm"/>
          </a:ln>
        </p:spPr>
      </p:cxnSp>
      <p:cxnSp>
        <p:nvCxnSpPr>
          <p:cNvPr id="103" name=""/>
          <p:cNvCxnSpPr>
            <a:stCxn xmlns:a="http://schemas.openxmlformats.org/drawingml/2006/main" id="29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7715250" y="36099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6B00"/>
            </a:solidFill>
            <a:prstDash val="solid"/>
            <a:tailEnd type="arrow" w="sm" len="sm"/>
          </a:ln>
        </p:spPr>
      </p:cxnSp>
      <p:cxnSp>
        <p:nvCxnSpPr>
          <p:cNvPr id="104" name=""/>
          <p:cNvCxnSpPr>
            <a:stCxn xmlns:a="http://schemas.openxmlformats.org/drawingml/2006/main" id="32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5581650" y="36099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56C7"/>
            </a:solidFill>
            <a:prstDash val="solid"/>
            <a:tailEnd type="arrow" w="sm" len="sm"/>
          </a:ln>
        </p:spPr>
      </p:cxnSp>
      <p:cxnSp>
        <p:nvCxnSpPr>
          <p:cNvPr id="105" name=""/>
          <p:cNvCxnSpPr>
            <a:stCxn xmlns:a="http://schemas.openxmlformats.org/drawingml/2006/main" id="35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4610100" y="2571750"/>
            <a:ext cx="4210050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656C7"/>
            </a:solidFill>
            <a:prstDash val="dash"/>
            <a:tailEnd type="arrow" w="sm" len="sm"/>
          </a:ln>
        </p:spPr>
      </p:cxnSp>
      <p:cxnSp>
        <p:nvCxnSpPr>
          <p:cNvPr id="106" name=""/>
          <p:cNvCxnSpPr>
            <a:stCxn xmlns:a="http://schemas.openxmlformats.org/drawingml/2006/main" id="32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3352800" y="3609975"/>
            <a:ext cx="2514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8A63"/>
            </a:solidFill>
            <a:prstDash val="solid"/>
            <a:tailEnd type="arrow" w="sm" len="sm"/>
          </a:ln>
        </p:spPr>
      </p:cxnSp>
      <p:cxnSp>
        <p:nvCxnSpPr>
          <p:cNvPr id="107" name=""/>
          <p:cNvCxnSpPr>
            <a:stCxn xmlns:a="http://schemas.openxmlformats.org/drawingml/2006/main" id="38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 flipH="1">
            <a:off x="1333500" y="4076700"/>
            <a:ext cx="1047750" cy="742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D8A63"/>
            </a:solidFill>
            <a:prstDash val="solid"/>
            <a:tailEnd type="arrow" w="sm" len="sm"/>
          </a:ln>
        </p:spPr>
      </p:cxnSp>
      <p:cxnSp>
        <p:nvCxnSpPr>
          <p:cNvPr id="108" name=""/>
          <p:cNvCxnSpPr>
            <a:stCxn xmlns:a="http://schemas.openxmlformats.org/drawingml/2006/main" id="32" idx="2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2266950" y="4076700"/>
            <a:ext cx="4524375" cy="1238250"/>
          </a:xfrm>
          <a:prstGeom xmlns:a="http://schemas.openxmlformats.org/drawingml/2006/main" prst="bentConnector5">
            <a:avLst>
              <a:gd name="adj1" fmla="val 0"/>
              <a:gd name="adj2" fmla="val 18462"/>
              <a:gd name="adj3" fmla="val 94947"/>
            </a:avLst>
          </a:prstGeom>
          <a:ln xmlns:a="http://schemas.openxmlformats.org/drawingml/2006/main" w="19050">
            <a:solidFill>
              <a:srgbClr val="111111"/>
            </a:solidFill>
            <a:prstDash val="dash"/>
            <a:tailEnd type="arrow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82A4A1-778F-45EE-94B6-DA4A664A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479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656C7"/>
                </a:solidFill>
              </a:defRPr>
            </a:pPr>
            <a:r>
              <a:rPr sz="825" b="1">
                <a:solidFill>
                  <a:srgbClr val="7656C7"/>
                </a:solidFill>
              </a:rPr>
              <a:t>NO：证据不足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00CC74-CF21-470C-A1E0-85E63F22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479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8A63"/>
                </a:solidFill>
              </a:defRPr>
            </a:pPr>
            <a:r>
              <a:rPr sz="825" b="1">
                <a:solidFill>
                  <a:srgbClr val="1D8A63"/>
                </a:solidFill>
              </a:rPr>
              <a:t>YES：需人审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F1B3CF-B7D7-4C43-B7D4-A6C4CE31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197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PASS：自动固化低风险项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5002D9-85B2-4EA4-8899-9A0806C1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19625"/>
            <a:ext cx="89154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4F7E6D-8313-45E6-A595-0E1B339B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56C7"/>
                </a:solidFill>
              </a:defRPr>
            </a:pPr>
            <a:r>
              <a:rPr sz="1200" b="1">
                <a:solidFill>
                  <a:srgbClr val="7656C7"/>
                </a:solidFill>
              </a:rPr>
              <a:t>Graph State（PostgreSQL Checkpoint）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BA8FF6-B06B-409A-BCD5-07F5151F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task_id · node_status · attempts · retrieval_trace · model/prompt version · citations · confidence · human_decision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5F5A50-1967-4DF5-9481-F0DBBF7F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支持长任务恢复、幂等重跑、暂停等待人工、失败节点定向重试，而不是一次性链式调用。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1313BC2-965A-4ED7-B71B-B1BD87F6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BidGuard · RAGFlow × LangGraph</a:t>
            </a:r>
          </a:p>
        </p:txBody>
      </p:sp>
    </p:spTree>
    <p:extLst>
      <p:ext uri="{BB962C8B-B14F-4D97-AF65-F5344CB8AC3E}">
        <p14:creationId xmlns:p14="http://schemas.microsoft.com/office/powerpoint/2010/main" val="20654367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76D246-FDB9-4089-A15F-0E1FFB2C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03 / RAGFLOW KNOWLEDGE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7CDA7-FA3A-4B84-9213-ECD619F3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RAGFlow：从原始标书到可验证证据的知识流水线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F50F5-0042-48B5-8A50-8A646DE9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BAA90-C18E-4D2B-87D5-6102B843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29F33-07FD-4979-9FE1-FC7D423C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581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CC363-D8DF-4E35-9AB0-5C34DCAF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97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1 受控接入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DE7E0-96DA-4FFF-8641-E9128FF3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314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Manifest · SHA-256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来源/授权 · 文档角色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版本链与标包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B5DCE-B451-4CE1-B2A5-8456BE60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24000"/>
            <a:ext cx="1581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6B5D5-B972-4924-BE91-B3CD7422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097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2 文档解析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F5001-9A70-4217-8926-96F87EAC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95475"/>
            <a:ext cx="1314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OCR · Layout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表格结构识别 · 页码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标题层级与坐标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6724D-EFED-4CEF-AD4E-4D28FBCC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24000"/>
            <a:ext cx="1581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DAED5-0FD3-48A4-A527-17EBDF60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97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3 领域切分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51EE0-CAFB-4E40-996F-791F4223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95475"/>
            <a:ext cx="1314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按章节/表格/条款切分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保留跨页上下文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绑定 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63409-173B-4CC8-BB94-E2872EC7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24000"/>
            <a:ext cx="1581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FB18D-51A3-40E3-AAE5-3B9710DB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097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4 Dataset / Index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683E4-ED8A-4B37-BF18-5F66E72D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95475"/>
            <a:ext cx="1314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Embedding + 全文索引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文档/版本/角色过滤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可重建、可追踪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6B206-E69C-4E13-B34C-6D90D6BD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24000"/>
            <a:ext cx="1581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7629C-7CDE-45FF-B3B7-45A0FD31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097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5 混合召回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F1124C-81CE-413E-B6F1-F30A1068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95475"/>
            <a:ext cx="1314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Vector + BM25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Query 改写/扩展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Top-K 候选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6614E-3686-4022-AF63-AED6486D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24000"/>
            <a:ext cx="1581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3585D7-49DA-4027-BDB6-FDDD76BB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097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6 重排与引用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D34579-689D-428E-A700-8F80D5D9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95475"/>
            <a:ext cx="1314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Rerank · 去重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证据片段 + 页码/章节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返回 LangGraph</a:t>
            </a:r>
          </a:p>
        </p:txBody>
      </p:sp>
      <p:cxnSp>
        <p:nvCxnSpPr>
          <p:cNvPr id="7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981200" y="21240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CE"/>
            </a:solidFill>
            <a:prstDash val="solid"/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771900" y="21240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CE"/>
            </a:solidFill>
            <a:prstDash val="solid"/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562600" y="21240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CE"/>
            </a:solidFill>
            <a:prstDash val="soli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353300" y="21240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CE"/>
            </a:solidFill>
            <a:prstDash val="solid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44000" y="21240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CE"/>
            </a:solidFill>
            <a:prstDash val="solid"/>
            <a:tail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C205D5-50EA-4D5E-80AC-982E6AB4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710565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A7B0EE-F60F-44AB-9D52-9A672AD4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BidGuard 调用策略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443590-C8DB-46AD-B336-44BFE789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调用 RAGFlow 的检索能力，而不是仅调用最终 Chat 接口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6E00FC-409C-42FE-9BB5-D7F155A7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2000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458F9B-B8B9-4A1E-AA72-37EC257F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A. 要求抽取检索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689810-FF31-4CF1-8F25-FE22A33E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73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定向检索资格条件、星号条款、评分表、合同条款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6314E9-672C-4793-BBB1-27B3F8B6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2000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AD8BEE-3162-4205-80DD-AD6117E8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576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B. 响应证据检索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023310-0917-49E9-9A07-6572EFC6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43425"/>
            <a:ext cx="173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以 requirement_id 构造查询，限定投标文档角色与版本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BD8473-57E1-43E1-9FE9-5BE3FB9A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71950"/>
            <a:ext cx="2190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3C1D47-5914-426D-B1C8-B6060741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57675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C. 失败后二次检索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EE65E8-16DC-489A-82BE-48CE751B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43425"/>
            <a:ext cx="1924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LangGraph 根据缺失证据改写 Query，再调用 RAGFlow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BFF2C0-19CF-42E7-8868-E3924EF8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98145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03303B-C135-4C01-81AC-1D0D997D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必须保留的 Chunk Metadata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AF42C7-B8BB-4208-B196-E3557A9F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100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CE"/>
                </a:solidFill>
              </a:defRPr>
            </a:pPr>
            <a:r>
              <a:rPr sz="975" b="1">
                <a:solidFill>
                  <a:srgbClr val="246BCE"/>
                </a:solidFill>
              </a:rPr>
              <a:t>project_id / package_id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30BD12-8735-4946-AF5B-ECFDFEFB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100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document_id / artifact_role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346B6D-8FF8-4B93-9BFF-635DB4C3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672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CE"/>
                </a:solidFill>
              </a:defRPr>
            </a:pPr>
            <a:r>
              <a:rPr sz="975" b="1">
                <a:solidFill>
                  <a:srgbClr val="246BCE"/>
                </a:solidFill>
              </a:rPr>
              <a:t>document_version / effective_status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8A3C8B-50F9-4D78-893C-CC55573B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672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page_no / section_path / table_id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5C512B-F4F4-48FF-A7CD-84750E39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244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CE"/>
                </a:solidFill>
              </a:defRPr>
            </a:pPr>
            <a:r>
              <a:rPr sz="975" b="1">
                <a:solidFill>
                  <a:srgbClr val="246BCE"/>
                </a:solidFill>
              </a:rPr>
              <a:t>chunk_id / parser_version / sha256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AFC7B0-4424-48E4-A4C7-B8F6019D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7244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access_scope / ingestion_timestamp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16F9C7-D041-4092-B91C-50CB8660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质量门：解析覆盖率、表格还原率、Gold Clause Recall、Recall@K / MRR、引用正确率均进入离线评测与回归。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117403-177B-434F-8EB2-AD52C075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BidGuard · RAGFlow × LangGraph</a:t>
            </a:r>
          </a:p>
        </p:txBody>
      </p:sp>
    </p:spTree>
    <p:extLst>
      <p:ext uri="{BB962C8B-B14F-4D97-AF65-F5344CB8AC3E}">
        <p14:creationId xmlns:p14="http://schemas.microsoft.com/office/powerpoint/2010/main" val="4346567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27C5EA-4722-45CD-87E8-59885C13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04 / ENTERPRISE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8AEC8-572F-425B-AB50-C795C632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企业级运行架构：异步、可观测、可审计、可扩展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9460C-44E9-40A5-9D01-F47AC26C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8B769-E057-470C-88B2-17C0E4CA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FF0D8-CEFD-4964-A4E9-F9153928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695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3A75F-4F8E-4E78-8E70-A2C32720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边界层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DDB82-43D1-4ED3-A43D-9F7E3122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1428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HTTPS / WAF / Nginx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SSO/OIDC · RBAC · 限流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49A3D-A60F-419C-9B06-79192689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47800"/>
            <a:ext cx="1695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C87CE-2B98-4196-980A-424DF2CF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335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应用服务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373F5-8213-4393-A236-8E3020E4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19275"/>
            <a:ext cx="1428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Next.js Web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FastAPI API/BFF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任务查询 / SSE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F93773-C52A-46DE-9C0A-D355D5D0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47800"/>
            <a:ext cx="1695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7656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0DE47-4154-4F59-9296-61AB77AD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335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任务执行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9E9A5-8D81-48C2-8C84-07E72E61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19275"/>
            <a:ext cx="1428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Ingestion Worker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Agent Worker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Report Worker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5A1C0-F447-45A8-8DBC-0D2F346F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47800"/>
            <a:ext cx="1695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7656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FB89C-316C-4389-B429-C4908911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335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LangGraph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9F603-E093-4589-956D-1C06EAA4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19275"/>
            <a:ext cx="1428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Runtime · StateGraph</a:t>
            </a:r>
          </a:p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Checkpoint · HITL</a:t>
            </a:r>
          </a:p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Retry · 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61911-0551-4783-AB4A-71D41984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47800"/>
            <a:ext cx="1695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85A4E-1E76-4E1E-8F75-DD191BAA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335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RAGFlow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6BFF0F-C279-448E-B183-8E98E697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19275"/>
            <a:ext cx="1428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Dataset · Parser · Retrieval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Rerank · Citation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EC72F8-223A-4A98-8B37-96DFCDCE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47800"/>
            <a:ext cx="1695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1D8A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C06ABA-445D-42E2-BCCA-3D1C31C1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5335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Model Gateway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6C43B-B974-40EE-B36A-6AF2E0B4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819275"/>
            <a:ext cx="1428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LLM / Embedding / Reranker</a:t>
            </a:r>
          </a:p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预算 · 限流 · 降级</a:t>
            </a:r>
          </a:p>
        </p:txBody>
      </p:sp>
      <p:cxnSp>
        <p:nvCxnSpPr>
          <p:cNvPr id="7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95500" y="19812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arrow" w="sm" len="sm"/>
          </a:ln>
        </p:spPr>
      </p:cxnSp>
      <p:cxnSp>
        <p:nvCxnSpPr>
          <p:cNvPr id="79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38600" y="19812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35"/>
            </a:solidFill>
            <a:prstDash val="solid"/>
            <a:tailEnd type="arrow" w="sm" len="sm"/>
          </a:ln>
        </p:spPr>
      </p:cxnSp>
      <p:cxnSp>
        <p:nvCxnSpPr>
          <p:cNvPr id="80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81700" y="19812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56C7"/>
            </a:solidFill>
            <a:prstDash val="solid"/>
            <a:tailEnd type="arrow" w="sm" len="sm"/>
          </a:ln>
        </p:spPr>
      </p:cxnSp>
      <p:cxnSp>
        <p:nvCxnSpPr>
          <p:cNvPr id="81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924800" y="19812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CE"/>
            </a:solidFill>
            <a:prstDash val="solid"/>
            <a:tailEnd type="arrow" w="sm" len="sm"/>
          </a:ln>
        </p:spPr>
      </p:cxnSp>
      <p:cxnSp>
        <p:nvCxnSpPr>
          <p:cNvPr id="82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867900" y="19812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8A63"/>
            </a:solidFill>
            <a:prstDash val="solid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14" idx="2"/>
            <a:endCxn xmlns:a="http://schemas.openxmlformats.org/drawingml/2006/main" id="20" idx="2"/>
          </p:cNvCxnSpPr>
          <p:nvPr/>
        </p:nvCxnSpPr>
        <p:spPr>
          <a:xfrm xmlns:a="http://schemas.openxmlformats.org/drawingml/2006/main">
            <a:off x="7077075" y="2514600"/>
            <a:ext cx="386715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D8A63"/>
            </a:solidFill>
            <a:prstDash val="dash"/>
            <a:tailEnd type="arrow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C02A95-C977-45FC-B0D8-1469BE1C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919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34B3CB-6273-47D6-844D-01072209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数据与基础设施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9BE267-0C2F-4515-B66A-376901B1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1847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AC4AAA-0177-48C7-BFBB-898B70EE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PostgreSQL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6F2D61-0543-4F6B-AE47-895025E7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领域实体 · Checkpoint</a:t>
            </a:r>
          </a:p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审计 · Outbox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8498A1-263B-421D-92AD-38F28EBA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62350"/>
            <a:ext cx="1847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139562-AA7F-4229-865D-D0F307D5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48075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MinIO / S3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275074-26C7-42BB-8D53-5735200F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862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不可变原文 · 解析产物</a:t>
            </a:r>
          </a:p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报告 · 版本保留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375D51-3DFF-4930-BC7B-260E0435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62350"/>
            <a:ext cx="1847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06017E-9A23-442A-A866-E6D1EA04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48075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Redis / Queue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66BCDC-B1D1-46A8-8280-039BBCF6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862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异步任务 · 缓存</a:t>
            </a:r>
          </a:p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分布式锁 · 幂等键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AB00F9-61AA-4A4F-88F6-8EAEA7A9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62350"/>
            <a:ext cx="1847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0E3F80-3252-47DC-8EC0-6D90C1FC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48075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RAGFlow Stores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E9DB42-4A16-4BBC-8CCD-439E61B7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862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索引 / 元数据 / 对象存储</a:t>
            </a:r>
          </a:p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按官方部署隔离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96D3EE-545D-4045-9CE7-E3C0212B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1847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D35AB2-41F7-46C3-805A-20235B0F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48075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Secrets / Config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8F6E8F-10E2-455F-ADFD-320F4E94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862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Vault/Secret · 环境配置</a:t>
            </a:r>
          </a:p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模型与 Prompt 版本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87377D-2550-45ED-A6EE-55FF642F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3590925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9525">
            <a:solidFill>
              <a:srgbClr val="C73E4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FC541B-D01F-4605-88D1-4B80A466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3E46"/>
                </a:solidFill>
              </a:defRPr>
            </a:pPr>
            <a:r>
              <a:rPr sz="1350" b="1">
                <a:solidFill>
                  <a:srgbClr val="C73E46"/>
                </a:solidFill>
              </a:rPr>
              <a:t>安全与治理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A04938-4A83-4E18-9796-3761D9D8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项目级数据隔离 · 文件类型/压缩包安全检查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脱敏 · 最小权限 · 高风险结论强制人审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425B72-75C1-4E1B-84BC-98154C3B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14900"/>
            <a:ext cx="3590925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1D8A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5EC54B-FD64-4456-84CA-AA688DA0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67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8A63"/>
                </a:solidFill>
              </a:defRPr>
            </a:pPr>
            <a:r>
              <a:rPr sz="1350" b="1">
                <a:solidFill>
                  <a:srgbClr val="1D8A63"/>
                </a:solidFill>
              </a:rPr>
              <a:t>可靠性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E05B22-B77F-4DAC-B88E-DD137808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29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幂等接入 · 指数退避 · 死信队列 · 任务取消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Checkpoint 恢复 · 超时/熔断 · 备份与恢复演练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1DACA6-E3AE-4181-BDA9-DAEAC22E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14900"/>
            <a:ext cx="35814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7656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C84FEF-C0B9-43B7-9466-CAE46FCC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67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6C7"/>
                </a:solidFill>
              </a:defRPr>
            </a:pPr>
            <a:r>
              <a:rPr sz="1350" b="1">
                <a:solidFill>
                  <a:srgbClr val="7656C7"/>
                </a:solidFill>
              </a:rPr>
              <a:t>可观测与评测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1C8079-FC25-4178-A0CF-3D6BC660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29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OpenTelemetry Trace · 指标/日志/告警 · 成本</a:t>
            </a:r>
          </a:p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检索评测 · 风险判定评测 · Prompt/模型回归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8CC294-401E-428F-A551-5FA3B57D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368"/>
                </a:solidFill>
              </a:defRPr>
            </a:pPr>
            <a:r>
              <a:rPr sz="750" b="0">
                <a:solidFill>
                  <a:srgbClr val="5F6368"/>
                </a:solidFill>
              </a:rPr>
              <a:t>架构依据：RAGFlow 官方仓库 github.com/infiniflow/ragflow · LangGraph 官方文档 docs.langchain.com/oss/python/langgraph</a:t>
            </a:r>
          </a:p>
        </p:txBody>
      </p:sp>
    </p:spTree>
    <p:extLst>
      <p:ext uri="{BB962C8B-B14F-4D97-AF65-F5344CB8AC3E}">
        <p14:creationId xmlns:p14="http://schemas.microsoft.com/office/powerpoint/2010/main" val="1402232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2026-07-01T02:41:01.5130000Z</dcterms:created>
  <dcterms:modified xsi:type="dcterms:W3CDTF">2026-07-01T02:41:01.5130000Z</dcterms:modified>
</coreProperties>
</file>